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7" r:id="rId2"/>
    <p:sldId id="289" r:id="rId3"/>
    <p:sldId id="268" r:id="rId4"/>
    <p:sldId id="257" r:id="rId5"/>
    <p:sldId id="259" r:id="rId6"/>
    <p:sldId id="290" r:id="rId7"/>
    <p:sldId id="293" r:id="rId8"/>
    <p:sldId id="294" r:id="rId9"/>
    <p:sldId id="280" r:id="rId10"/>
    <p:sldId id="281" r:id="rId11"/>
    <p:sldId id="28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1D2F3-6C83-47A1-8069-D7AA328FCE0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E28C-A7F6-4A98-ABD1-F9BBC6C17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974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2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FB447-9483-327D-8618-9B2913453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FAD1FE-608C-3AA6-CB36-F552777CC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FEE3F4-7098-E150-15B5-15462D08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C7E590-6C85-61B0-F617-37DC1FFB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DB013-1EC8-F9B4-75ED-50CC052B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4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402A6-0FFB-CEC0-745E-78DDD92D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6A6E1-A457-8131-29D1-D8E819B0A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4A59D-BED6-9637-4440-708ACE66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74D4F-0CDD-506C-228F-4A245C8C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F6D7F-0E63-60E2-CF15-D9242600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84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6AD44-5851-37A2-476D-24C80F4E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CC4F5F-5762-921B-9FE9-04A7EB117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84589-0A27-6CD5-34D4-67C29094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41529-BAC8-28F1-89C8-EFEFF1180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73E78-A2CD-1457-BA5D-8B824F2A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420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55309-93C7-A38D-4BE0-42101972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32D0D-0CA4-160C-5877-5C2AB7048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C469B4-580A-F040-39B0-EC67311C2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32C49-221E-3DED-8C70-BAEAF638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E93286-704C-B596-3F20-BEF4888B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C77D15-F693-1312-5BCA-A93FE5A7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12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CD324-5568-109D-A604-893BD390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B1A32-B4CF-ADCB-B249-C5842CD0D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DF8D57-85B4-96C6-BD77-76C06B2EA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69CF41-8826-466B-63EC-C72505829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CFFECE-33A9-381E-BBE3-B17E52EB1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AC5A83-504B-8BD7-54B5-F4C0BE03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9920F3-3849-BF9C-830D-965A07DC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5CE683-3D0A-2E40-CF28-E816B029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91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5FA7B-730F-BB83-6128-E9CFA9CA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14F511-4F1E-24CB-0CDD-8E6B62BB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F4D618-0C5B-5719-954C-91A45D9A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2B5E65-8AF0-41BB-2F19-E5E43519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0DE74C-7603-89B4-FBA5-FC5D1FCC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DEB7C9-3EE1-77D5-46A5-84016A79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0895DC-42FA-C69C-8EB2-C6EC2553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87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331A6-0B6A-64C6-F8D8-15024DF9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3F544B-FEC5-BE12-7C1C-720D0029C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1BA2A9-2411-B386-A513-B6D15C528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E85BF4-2FB7-6E73-493A-8E618888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5335BA-E9E6-326B-3B6E-0F065864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C5D85B-2F0D-9A2E-6C99-EB03516D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81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FC72A-11E0-C8D4-5282-A2A275C6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6E6282-9C8E-AB87-9C6A-2961D441B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3B8EA0-404B-27E4-7735-E753938C5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D4FD4E-A67E-F091-83AF-666998CD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3E6205-0696-8A0F-E6BA-EDF033A1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CA2CE7-84D1-AD1F-3386-B87B9365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33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DCDD1-82FF-467D-17FA-C594C67D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D4285A-E792-7202-E114-BE1AD2EDC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BB0992-944D-DCCB-6BB1-6E843C50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59317-9E22-A540-9135-74CF6CC8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D9EF9C-363B-E8AB-E85C-66C5FCF5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95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C634FF-70A9-BADB-C6A5-F820B136E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DD14E4-84C5-A953-8C42-8D6D1C8E5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D9EAEB-CEC9-2A6B-D9E6-41D0AB58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46E78-0B99-96CA-BE83-AB470EDF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4144C-8419-890C-B12E-23BC2773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599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像" descr="/Users/justmaoba/工作/黑芝麻/LOGO-SH.pngLOGO-SH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778821" y="278183"/>
            <a:ext cx="1104041" cy="295275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1008281" y="1209675"/>
            <a:ext cx="10296526" cy="51435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l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sp>
        <p:nvSpPr>
          <p:cNvPr id="3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1008281" y="330306"/>
            <a:ext cx="5655302" cy="55753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4pPr marL="0" indent="0" algn="l" rtl="0">
              <a:buFont typeface="Arial" panose="020B0604020202020204" pitchFamily="34" charset="0"/>
              <a:buNone/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0"/>
            <a:r>
              <a:rPr lang="zh-CN" altLang="en-US" dirty="0"/>
              <a:t>单击此处编辑标题样式</a:t>
            </a:r>
          </a:p>
        </p:txBody>
      </p:sp>
    </p:spTree>
    <p:extLst>
      <p:ext uri="{BB962C8B-B14F-4D97-AF65-F5344CB8AC3E}">
        <p14:creationId xmlns:p14="http://schemas.microsoft.com/office/powerpoint/2010/main" val="1902360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像" descr="/Users/justmaoba/工作/黑芝麻/LOGO-SH.pngLOGO-SH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778821" y="278183"/>
            <a:ext cx="1104041" cy="295275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5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1008281" y="330306"/>
            <a:ext cx="5655302" cy="55753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80604020202020204" pitchFamily="34" charset="0"/>
              <a:buNone/>
              <a:defRPr sz="2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4pPr marL="0" indent="0" algn="l" rtl="0">
              <a:buFont typeface="Arial" panose="02080604020202020204" pitchFamily="34" charset="0"/>
              <a:buNone/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0"/>
            <a:r>
              <a:rPr lang="zh-CN" altLang="en-US" dirty="0"/>
              <a:t>单击此处编辑标题样式</a:t>
            </a:r>
          </a:p>
        </p:txBody>
      </p:sp>
    </p:spTree>
    <p:extLst>
      <p:ext uri="{BB962C8B-B14F-4D97-AF65-F5344CB8AC3E}">
        <p14:creationId xmlns:p14="http://schemas.microsoft.com/office/powerpoint/2010/main" val="1543543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KV-03.jpg" descr="/Users/justmaoba/工作/黑芝麻/P-PT-COVER-01.jpgP-PT-COVER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2858" y="1270"/>
            <a:ext cx="12189143" cy="6855460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2089" y="3093720"/>
            <a:ext cx="10284203" cy="816102"/>
          </a:xfrm>
        </p:spPr>
        <p:txBody>
          <a:bodyPr anchor="t" anchorCtr="0">
            <a:noAutofit/>
          </a:bodyPr>
          <a:lstStyle>
            <a:lvl1pPr algn="l">
              <a:lnSpc>
                <a:spcPct val="130000"/>
              </a:lnSpc>
              <a:defRPr sz="35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 dirty="0"/>
              <a:t>单击此处编辑主标题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2089" y="6021324"/>
            <a:ext cx="4469951" cy="415290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  <a:effectLst/>
                <a:latin typeface="Microsoft YaHei" charset="-122"/>
                <a:ea typeface="Microsoft YaHei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2022/12/10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</p:nvPr>
        </p:nvSpPr>
        <p:spPr>
          <a:xfrm>
            <a:off x="912089" y="3956431"/>
            <a:ext cx="10284584" cy="802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3pPr marL="914400" indent="0">
              <a:buFont typeface="Arial" panose="02080604020202020204" pitchFamily="34" charset="0"/>
              <a:buNone/>
              <a:defRPr sz="2700">
                <a:solidFill>
                  <a:srgbClr val="0E1255"/>
                </a:solidFill>
              </a:defRPr>
            </a:lvl3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</p:spTree>
    <p:extLst>
      <p:ext uri="{BB962C8B-B14F-4D97-AF65-F5344CB8AC3E}">
        <p14:creationId xmlns:p14="http://schemas.microsoft.com/office/powerpoint/2010/main" val="182035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41626D-C314-47F0-C188-67C12DCD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C89166-34FA-8D48-C80B-79C6A52E6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2345B-8C74-5321-7B3F-123C28818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57ABD-D1F4-4FC5-AA35-70BE556A4E09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2642E6-E517-C0D2-EC48-E8824EF10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4AC1A-605B-0CD6-B20A-A78A01CBE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84752-ABD2-436E-9D29-3B56F9CB7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96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各地图产品介绍材料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2024/04/07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 dirty="0"/>
              <a:t> 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19745" y="236038"/>
            <a:ext cx="5655302" cy="557530"/>
          </a:xfrm>
        </p:spPr>
        <p:txBody>
          <a:bodyPr>
            <a:normAutofit/>
          </a:bodyPr>
          <a:lstStyle/>
          <a:p>
            <a:r>
              <a:rPr lang="zh-CN" altLang="en-US" dirty="0"/>
              <a:t>市面上各地图产品类别划分</a:t>
            </a:r>
          </a:p>
        </p:txBody>
      </p:sp>
      <p:graphicFrame>
        <p:nvGraphicFramePr>
          <p:cNvPr id="3" name="Table 2"/>
          <p:cNvGraphicFramePr/>
          <p:nvPr>
            <p:extLst>
              <p:ext uri="{D42A27DB-BD31-4B8C-83A1-F6EECF244321}">
                <p14:modId xmlns:p14="http://schemas.microsoft.com/office/powerpoint/2010/main" val="790492161"/>
              </p:ext>
            </p:extLst>
          </p:nvPr>
        </p:nvGraphicFramePr>
        <p:xfrm>
          <a:off x="866140" y="887730"/>
          <a:ext cx="10459720" cy="579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2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Microsoft YaHei" charset="-122"/>
                          <a:ea typeface="Microsoft YaHei" charset="-122"/>
                        </a:rPr>
                        <a:t>产品类别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Microsoft YaHei" charset="-122"/>
                          <a:ea typeface="Microsoft YaHei" charset="-122"/>
                        </a:rPr>
                        <a:t>主要内容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Microsoft YaHei" charset="-122"/>
                          <a:ea typeface="Microsoft YaHei" charset="-122"/>
                        </a:rPr>
                        <a:t>数据范围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Microsoft YaHei" charset="-122"/>
                          <a:ea typeface="Microsoft YaHei" charset="-122"/>
                        </a:rPr>
                        <a:t>精度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Microsoft YaHei" charset="-122"/>
                          <a:ea typeface="Microsoft YaHei" charset="-122"/>
                        </a:rPr>
                        <a:t>应用方式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 rowSpan="7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HD </a:t>
                      </a:r>
                      <a:r>
                        <a:rPr lang="zh-CN" alt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高精地图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车道级几何、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城市高快</a:t>
                      </a:r>
                      <a:endParaRPr lang="zh-CN" altLang="en-US" sz="1000" dirty="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部分城市道路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厘米级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1.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提供静态地图文件，自行编译生成路径规划地图使用（时空道宇等）；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2.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提供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EHP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引擎，采用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ADASISv3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协议实时播发（腾讯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/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百度等）；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3.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提供数据引擎，使用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API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调用（腾讯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/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朗歌等）；</a:t>
                      </a:r>
                      <a:endParaRPr lang="zh-CN" altLang="en-US" sz="1000" dirty="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endParaRPr lang="zh-CN" altLang="en-US" sz="100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车道级拓扑联通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9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路口面几何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、拓扑连通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3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红绿灯面几何、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停止线几何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、属性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人行横道面几何、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交通标志面几何、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属性</a:t>
                      </a:r>
                      <a:endParaRPr lang="en-US" altLang="zh-CN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40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HD Air</a:t>
                      </a:r>
                      <a:r>
                        <a:rPr lang="zh-CN" alt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地图</a:t>
                      </a:r>
                      <a:endParaRPr lang="zh-CN" altLang="en-US" sz="1200" b="1" dirty="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endParaRPr lang="zh-CN" altLang="en-US" sz="1200" b="1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道路级几何、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城市高快</a:t>
                      </a:r>
                      <a:endParaRPr lang="zh-CN" altLang="en-US" sz="1000" dirty="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部分城市道路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>
                          <a:latin typeface="Microsoft YaHei" charset="-122"/>
                          <a:ea typeface="Microsoft YaHei" charset="-122"/>
                        </a:rPr>
                        <a:t>分米级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提供数据引擎，使用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API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调用；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1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道路级拓扑联通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5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车道变化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Dot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点、属性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路口车道级拓扑连通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1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停止线位置点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515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ADAS</a:t>
                      </a:r>
                      <a:r>
                        <a:rPr lang="zh-CN" alt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地图</a:t>
                      </a:r>
                      <a:endParaRPr lang="zh-CN" altLang="en-US" sz="1200" b="1" dirty="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endParaRPr lang="zh-CN" altLang="en-US" sz="1200" b="1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00" dirty="0">
                          <a:latin typeface="Microsoft YaHei" charset="-122"/>
                          <a:ea typeface="Microsoft YaHei" charset="-122"/>
                        </a:rPr>
                        <a:t>道路级几何、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>
                          <a:latin typeface="Microsoft YaHei" charset="-122"/>
                          <a:ea typeface="Microsoft YaHei" charset="-122"/>
                        </a:rPr>
                        <a:t>城市高快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分米级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提供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EHP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引擎，采用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ADASIS v2/v3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协议实时播发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；</a:t>
                      </a:r>
                    </a:p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主要应用于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 L2+ ADAS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功能；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5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道路级拓扑连通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9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曲率、坡度、航向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2415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SD </a:t>
                      </a:r>
                      <a:r>
                        <a:rPr lang="zh-CN" altLang="en-US" sz="1200" b="1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数据引擎</a:t>
                      </a:r>
                      <a:endParaRPr lang="zh-CN" altLang="en-US" sz="1200" b="1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道路级几何、属性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>
                          <a:latin typeface="Microsoft YaHei" charset="-122"/>
                          <a:ea typeface="Microsoft YaHei" charset="-122"/>
                        </a:rPr>
                        <a:t>全域道路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>
                          <a:latin typeface="Microsoft YaHei" charset="-122"/>
                          <a:ea typeface="Microsoft YaHei" charset="-122"/>
                        </a:rPr>
                        <a:t>米级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提供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SD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导航地图的后台数据引擎，使用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API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调用；</a:t>
                      </a:r>
                      <a:endParaRPr lang="zh-CN" altLang="en-US" sz="100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道路级拓扑连通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4320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b="1" dirty="0">
                          <a:latin typeface="Microsoft YaHei" charset="-122"/>
                          <a:ea typeface="Microsoft YaHei" charset="-122"/>
                        </a:rPr>
                        <a:t>SD </a:t>
                      </a:r>
                      <a:r>
                        <a:rPr lang="zh-CN" altLang="en-US" sz="1200" b="1" dirty="0">
                          <a:latin typeface="Microsoft YaHei" charset="-122"/>
                          <a:ea typeface="Microsoft YaHei" charset="-122"/>
                        </a:rPr>
                        <a:t>导航地图</a:t>
                      </a:r>
                      <a:endParaRPr lang="en-US" altLang="zh-CN" sz="1200" b="1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全局路线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link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  <a:sym typeface="+mn-ea"/>
                        </a:rPr>
                        <a:t>信息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  <a:sym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>
                          <a:latin typeface="Microsoft YaHei" charset="-122"/>
                          <a:ea typeface="Microsoft YaHei" charset="-122"/>
                          <a:sym typeface="+mn-ea"/>
                        </a:rPr>
                        <a:t>全域道路</a:t>
                      </a:r>
                      <a:endParaRPr lang="zh-CN" altLang="en-US" sz="100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endParaRPr lang="zh-CN" altLang="en-US" sz="100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>
                          <a:latin typeface="Microsoft YaHei" charset="-122"/>
                          <a:ea typeface="Microsoft YaHei" charset="-122"/>
                          <a:sym typeface="+mn-ea"/>
                        </a:rPr>
                        <a:t>米级</a:t>
                      </a:r>
                      <a:endParaRPr lang="zh-CN" altLang="en-US" sz="1000">
                        <a:latin typeface="Microsoft YaHei" charset="-122"/>
                        <a:ea typeface="Microsoft YaHei" charset="-122"/>
                      </a:endParaRPr>
                    </a:p>
                    <a:p>
                      <a:pPr algn="l">
                        <a:buNone/>
                      </a:pPr>
                      <a:endParaRPr lang="zh-CN" altLang="en-US" sz="100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提供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SD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导航地图</a:t>
                      </a:r>
                      <a:r>
                        <a:rPr lang="en-US" altLang="zh-CN" sz="1000" dirty="0">
                          <a:latin typeface="Microsoft YaHei" charset="-122"/>
                          <a:ea typeface="Microsoft YaHei" charset="-122"/>
                        </a:rPr>
                        <a:t>APP +AIDL SDK </a:t>
                      </a: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实时播发；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01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基础引导信息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95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推荐车道信息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dirty="0">
                          <a:latin typeface="Microsoft YaHei" charset="-122"/>
                          <a:ea typeface="Microsoft YaHei" charset="-122"/>
                        </a:rPr>
                        <a:t>高速设施信息</a:t>
                      </a:r>
                      <a:endParaRPr lang="zh-CN" altLang="en-US" sz="1000" b="0" dirty="0">
                        <a:latin typeface="Microsoft YaHei" charset="-122"/>
                        <a:ea typeface="Microsoft YaHei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4" name="对象 3">
            <a:hlinkClick r:id="" action="ppaction://ole?verb=0"/>
            <a:extLst>
              <a:ext uri="{FF2B5EF4-FFF2-40B4-BE49-F238E27FC236}">
                <a16:creationId xmlns:a16="http://schemas.microsoft.com/office/drawing/2014/main" id="{F96740DA-9BD4-6D9C-532A-5068FD3BF2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265018"/>
              </p:ext>
            </p:extLst>
          </p:nvPr>
        </p:nvGraphicFramePr>
        <p:xfrm>
          <a:off x="9835424" y="58105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howAsIcon="1" r:id="rId2" imgW="971550" imgH="800100" progId="Package">
                  <p:embed/>
                </p:oleObj>
              </mc:Choice>
              <mc:Fallback>
                <p:oleObj showAsIcon="1" r:id="rId2" imgW="971550" imgH="800100" progId="Package">
                  <p:embed/>
                  <p:pic>
                    <p:nvPicPr>
                      <p:cNvPr id="5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35424" y="58105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  <a:extLst>
              <a:ext uri="{FF2B5EF4-FFF2-40B4-BE49-F238E27FC236}">
                <a16:creationId xmlns:a16="http://schemas.microsoft.com/office/drawing/2014/main" id="{9DE00EFC-E79A-8442-FCEC-A3F0D3E7C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642352"/>
              </p:ext>
            </p:extLst>
          </p:nvPr>
        </p:nvGraphicFramePr>
        <p:xfrm>
          <a:off x="9794856" y="495270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howAsIcon="1" r:id="rId4" imgW="971550" imgH="800100" progId="Package">
                  <p:embed/>
                </p:oleObj>
              </mc:Choice>
              <mc:Fallback>
                <p:oleObj showAsIcon="1" r:id="rId4" imgW="971550" imgH="800100" progId="Package">
                  <p:embed/>
                  <p:pic>
                    <p:nvPicPr>
                      <p:cNvPr id="7" name="对象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94856" y="495270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19393" y="164223"/>
            <a:ext cx="9250680" cy="557530"/>
          </a:xfrm>
        </p:spPr>
        <p:txBody>
          <a:bodyPr/>
          <a:lstStyle/>
          <a:p>
            <a:r>
              <a:rPr lang="zh-CN" altLang="en-US" dirty="0"/>
              <a:t>腾讯地图模块分级描述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67740"/>
            <a:ext cx="11410315" cy="5330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1515" y="906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腾讯各级地图模块输出要素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56580" y="178495"/>
            <a:ext cx="5655302" cy="557530"/>
          </a:xfrm>
        </p:spPr>
        <p:txBody>
          <a:bodyPr/>
          <a:lstStyle/>
          <a:p>
            <a:r>
              <a:rPr lang="en-US" altLang="zh-CN" dirty="0"/>
              <a:t>HD </a:t>
            </a:r>
            <a:r>
              <a:rPr lang="zh-CN" altLang="en-US" dirty="0"/>
              <a:t>地图要素示意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47783" y="1340360"/>
            <a:ext cx="9633188" cy="5359764"/>
            <a:chOff x="739" y="1374"/>
            <a:chExt cx="16202" cy="905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2" y="1374"/>
              <a:ext cx="13008" cy="90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Text Box 11"/>
            <p:cNvSpPr txBox="1"/>
            <p:nvPr/>
          </p:nvSpPr>
          <p:spPr>
            <a:xfrm>
              <a:off x="10140" y="1448"/>
              <a:ext cx="3846" cy="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n w="0"/>
                  <a:solidFill>
                    <a:srgbClr val="0070C0"/>
                  </a:solidFill>
                  <a:latin typeface="Microsoft YaHei" charset="-122"/>
                  <a:ea typeface="Microsoft YaHei" charset="-122"/>
                </a:rPr>
                <a:t>交通标志面要素</a:t>
              </a:r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2760" y="4193"/>
              <a:ext cx="3134" cy="25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s 13"/>
            <p:cNvSpPr/>
            <p:nvPr/>
          </p:nvSpPr>
          <p:spPr>
            <a:xfrm>
              <a:off x="13026" y="4193"/>
              <a:ext cx="1710" cy="145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2876" y="3589"/>
              <a:ext cx="4065" cy="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icrosoft YaHei" charset="-122"/>
                  <a:ea typeface="Microsoft YaHei" charset="-122"/>
                </a:defRPr>
              </a:lvl1pPr>
            </a:lstStyle>
            <a:p>
              <a:r>
                <a:rPr lang="zh-CN" altLang="en-US" dirty="0">
                  <a:effectLst/>
                </a:rPr>
                <a:t>人行横道面要素</a:t>
              </a:r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1218" y="4058"/>
              <a:ext cx="4065" cy="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icrosoft YaHei" charset="-122"/>
                  <a:ea typeface="Microsoft YaHei" charset="-122"/>
                </a:defRPr>
              </a:lvl1pPr>
            </a:lstStyle>
            <a:p>
              <a:r>
                <a:rPr lang="zh-CN" altLang="en-US" dirty="0">
                  <a:effectLst/>
                </a:rPr>
                <a:t>车道线</a:t>
              </a: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739" y="4795"/>
              <a:ext cx="4065" cy="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icrosoft YaHei" charset="-122"/>
                  <a:ea typeface="Microsoft YaHei" charset="-122"/>
                </a:defRPr>
              </a:lvl1pPr>
            </a:lstStyle>
            <a:p>
              <a:r>
                <a:rPr lang="zh-CN" altLang="en-US" dirty="0">
                  <a:effectLst/>
                </a:rPr>
                <a:t>车道中心线</a:t>
              </a:r>
            </a:p>
          </p:txBody>
        </p:sp>
        <p:sp>
          <p:nvSpPr>
            <p:cNvPr id="22" name="Rectangles 21"/>
            <p:cNvSpPr/>
            <p:nvPr/>
          </p:nvSpPr>
          <p:spPr>
            <a:xfrm>
              <a:off x="7506" y="1448"/>
              <a:ext cx="2295" cy="1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s 22"/>
            <p:cNvSpPr/>
            <p:nvPr/>
          </p:nvSpPr>
          <p:spPr>
            <a:xfrm>
              <a:off x="6855" y="4291"/>
              <a:ext cx="3920" cy="334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s 23"/>
            <p:cNvSpPr/>
            <p:nvPr/>
          </p:nvSpPr>
          <p:spPr>
            <a:xfrm>
              <a:off x="2760" y="5063"/>
              <a:ext cx="3134" cy="25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9456" y="3634"/>
              <a:ext cx="4065" cy="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icrosoft YaHei" charset="-122"/>
                  <a:ea typeface="Microsoft YaHei" charset="-122"/>
                </a:defRPr>
              </a:lvl1pPr>
            </a:lstStyle>
            <a:p>
              <a:r>
                <a:rPr lang="zh-CN" altLang="en-US" dirty="0">
                  <a:effectLst/>
                </a:rPr>
                <a:t>路口虚拟引导线</a:t>
              </a:r>
            </a:p>
          </p:txBody>
        </p:sp>
        <p:sp>
          <p:nvSpPr>
            <p:cNvPr id="26" name="Rectangles 25"/>
            <p:cNvSpPr/>
            <p:nvPr/>
          </p:nvSpPr>
          <p:spPr>
            <a:xfrm rot="5400000">
              <a:off x="3622" y="6794"/>
              <a:ext cx="1919" cy="44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4129" y="7977"/>
              <a:ext cx="4065" cy="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ln w="0"/>
                  <a:solidFill>
                    <a:srgbClr val="0070C0"/>
                  </a:solidFill>
                  <a:effectLst/>
                  <a:latin typeface="Microsoft YaHei" charset="-122"/>
                  <a:ea typeface="Microsoft YaHei" charset="-122"/>
                </a:defRPr>
              </a:lvl1pPr>
            </a:lstStyle>
            <a:p>
              <a:r>
                <a:rPr lang="zh-CN" altLang="en-US"/>
                <a:t>停止线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73124" y="881892"/>
            <a:ext cx="1114896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</a:rPr>
              <a:t>HD 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地图要素描述最完整、丰富</a:t>
            </a:r>
            <a:endParaRPr lang="en-US" altLang="zh-CN" dirty="0"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34903" y="283172"/>
            <a:ext cx="5655302" cy="557530"/>
          </a:xfrm>
        </p:spPr>
        <p:txBody>
          <a:bodyPr/>
          <a:lstStyle/>
          <a:p>
            <a:r>
              <a:rPr lang="en-US" altLang="zh-CN" dirty="0"/>
              <a:t>HD Air</a:t>
            </a:r>
            <a:r>
              <a:rPr lang="zh-CN" altLang="en-US" dirty="0"/>
              <a:t>地图要素示意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70" y="1394460"/>
            <a:ext cx="10845165" cy="4811395"/>
          </a:xfrm>
          <a:prstGeom prst="rect">
            <a:avLst/>
          </a:prstGeom>
        </p:spPr>
      </p:pic>
      <p:sp>
        <p:nvSpPr>
          <p:cNvPr id="4" name="文本框 2"/>
          <p:cNvSpPr txBox="1"/>
          <p:nvPr/>
        </p:nvSpPr>
        <p:spPr>
          <a:xfrm>
            <a:off x="973124" y="881892"/>
            <a:ext cx="1114896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</a:rPr>
              <a:t>HD Air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地图对车道级要素作了几何简化，相较于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HD 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地图，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HD Air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地图仅提供车道变化位置点信息</a:t>
            </a:r>
            <a:endParaRPr lang="en-US" altLang="zh-CN" dirty="0"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2927" y="254892"/>
            <a:ext cx="6523735" cy="557530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ADAS</a:t>
            </a:r>
            <a:r>
              <a:rPr lang="zh-CN" altLang="en-US" dirty="0"/>
              <a:t>地图（</a:t>
            </a:r>
            <a:r>
              <a:rPr lang="en-US" dirty="0"/>
              <a:t>EHP</a:t>
            </a:r>
            <a:r>
              <a:rPr lang="zh-CN" altLang="en-US" dirty="0"/>
              <a:t>接收</a:t>
            </a:r>
            <a:r>
              <a:rPr lang="en-US" dirty="0"/>
              <a:t> </a:t>
            </a:r>
            <a:r>
              <a:rPr lang="zh-CN" altLang="en-US" dirty="0"/>
              <a:t>引擎，</a:t>
            </a:r>
            <a:r>
              <a:rPr lang="en-US" altLang="zh-CN" dirty="0"/>
              <a:t>EHR</a:t>
            </a:r>
            <a:r>
              <a:rPr lang="zh-CN" altLang="en-US" dirty="0"/>
              <a:t>解析引擎）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58236" y="875809"/>
            <a:ext cx="6938645" cy="198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buFont typeface="Arial" panose="02080604020202020204" pitchFamily="34" charset="0"/>
              <a:buNone/>
            </a:pPr>
            <a:r>
              <a:rPr lang="en-US" dirty="0">
                <a:latin typeface="Microsoft YaHei" charset="-122"/>
                <a:ea typeface="Microsoft YaHei" charset="-122"/>
              </a:rPr>
              <a:t>Electronic horizon provider 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电子地平线：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 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为高精地图数据分发引擎</a:t>
            </a:r>
            <a:endParaRPr lang="zh-CN" altLang="en-US" sz="1400" dirty="0"/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400" dirty="0">
                <a:latin typeface="Microsoft YaHei" charset="-122"/>
                <a:ea typeface="Microsoft YaHei" charset="-122"/>
              </a:rPr>
              <a:t>采用标准化</a:t>
            </a:r>
            <a:r>
              <a:rPr lang="en-US" altLang="zh-CN" sz="1400" dirty="0">
                <a:latin typeface="Microsoft YaHei" charset="-122"/>
                <a:ea typeface="Microsoft YaHei" charset="-122"/>
              </a:rPr>
              <a:t>ADASIS</a:t>
            </a:r>
            <a:r>
              <a:rPr lang="zh-CN" altLang="en-US" sz="1400" dirty="0">
                <a:latin typeface="Microsoft YaHei" charset="-122"/>
                <a:ea typeface="Microsoft YaHei" charset="-122"/>
              </a:rPr>
              <a:t>协议接口传输</a:t>
            </a:r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sz="1400" dirty="0">
                <a:latin typeface="Microsoft YaHei" charset="-122"/>
                <a:ea typeface="Microsoft YaHei" charset="-122"/>
              </a:rPr>
              <a:t>可根据主机厂架构设计，支持多种集成方式：</a:t>
            </a:r>
            <a:r>
              <a:rPr lang="en-US" altLang="zh-CN" sz="1400" dirty="0">
                <a:latin typeface="Microsoft YaHei" charset="-122"/>
                <a:ea typeface="Microsoft YaHei" charset="-122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400" dirty="0">
                <a:latin typeface="Microsoft YaHei" charset="-122"/>
                <a:ea typeface="Microsoft YaHei" charset="-122"/>
              </a:rPr>
              <a:t>独立地图盒子</a:t>
            </a:r>
            <a:endParaRPr lang="en-US" altLang="zh-CN" sz="1400" dirty="0">
              <a:latin typeface="Microsoft YaHei" charset="-122"/>
              <a:ea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400" dirty="0">
                <a:latin typeface="Microsoft YaHei" charset="-122"/>
                <a:ea typeface="Microsoft YaHei" charset="-122"/>
              </a:rPr>
              <a:t>集成在</a:t>
            </a:r>
            <a:r>
              <a:rPr lang="en-US" altLang="zh-CN" sz="1400" dirty="0">
                <a:latin typeface="Microsoft YaHei" charset="-122"/>
                <a:ea typeface="Microsoft YaHei" charset="-122"/>
              </a:rPr>
              <a:t>IHU</a:t>
            </a:r>
            <a:r>
              <a:rPr lang="zh-CN" altLang="en-US" sz="1400" dirty="0">
                <a:latin typeface="Microsoft YaHei" charset="-122"/>
                <a:ea typeface="Microsoft YaHei" charset="-122"/>
              </a:rPr>
              <a:t>内</a:t>
            </a:r>
            <a:endParaRPr lang="en-US" altLang="zh-CN" sz="1400" dirty="0">
              <a:latin typeface="Microsoft YaHei" charset="-122"/>
              <a:ea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400" dirty="0">
                <a:latin typeface="Microsoft YaHei" charset="-122"/>
                <a:ea typeface="Microsoft YaHei" charset="-122"/>
              </a:rPr>
              <a:t>集成在域控内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62923" y="2396310"/>
            <a:ext cx="11063605" cy="3849027"/>
            <a:chOff x="138" y="2665"/>
            <a:chExt cx="17651" cy="6241"/>
          </a:xfrm>
        </p:grpSpPr>
        <p:sp>
          <p:nvSpPr>
            <p:cNvPr id="3" name="Flowchart: Magnetic Disk 2"/>
            <p:cNvSpPr/>
            <p:nvPr/>
          </p:nvSpPr>
          <p:spPr>
            <a:xfrm>
              <a:off x="3705" y="7292"/>
              <a:ext cx="2055" cy="1065"/>
            </a:xfrm>
            <a:prstGeom prst="flowChartMagneticDisk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Microsoft YaHei" charset="-122"/>
                  <a:ea typeface="Microsoft YaHei" charset="-122"/>
                </a:rPr>
                <a:t>HD Map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705" y="4819"/>
              <a:ext cx="1830" cy="103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Microsoft YaHei" charset="-122"/>
                  <a:ea typeface="Microsoft YaHei" charset="-122"/>
                </a:rPr>
                <a:t>EHP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6060" y="4924"/>
              <a:ext cx="2910" cy="64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375" y="4384"/>
              <a:ext cx="2485" cy="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Microsoft YaHei" charset="-122"/>
                  <a:ea typeface="Microsoft YaHei" charset="-122"/>
                </a:rPr>
                <a:t>车载以太网</a:t>
              </a: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6375" y="5569"/>
              <a:ext cx="2485" cy="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icrosoft YaHei" charset="-122"/>
                  <a:ea typeface="Microsoft YaHei" charset="-122"/>
                </a:rPr>
                <a:t>ADASIS v3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420" y="7277"/>
              <a:ext cx="2010" cy="93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icrosoft YaHei" charset="-122"/>
                  <a:ea typeface="Microsoft YaHei" charset="-122"/>
                </a:rPr>
                <a:t>L2+</a:t>
              </a:r>
              <a:r>
                <a:rPr lang="zh-CN" altLang="en-US" dirty="0">
                  <a:latin typeface="Microsoft YaHei" charset="-122"/>
                  <a:ea typeface="Microsoft YaHei" charset="-122"/>
                </a:rPr>
                <a:t>应用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12163" y="5653"/>
              <a:ext cx="2341" cy="65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4812" y="4921"/>
              <a:ext cx="2384" cy="55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Microsoft YaHei" charset="-122"/>
                  <a:ea typeface="Microsoft YaHei" charset="-122"/>
                </a:rPr>
                <a:t>ICC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4812" y="4138"/>
              <a:ext cx="2384" cy="55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Microsoft YaHei" charset="-122"/>
                  <a:ea typeface="Microsoft YaHei" charset="-122"/>
                </a:rPr>
                <a:t>NOA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4812" y="5704"/>
              <a:ext cx="2384" cy="55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Microsoft YaHei" charset="-122"/>
                  <a:ea typeface="Microsoft YaHei" charset="-122"/>
                </a:rPr>
                <a:t>HWA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4812" y="6487"/>
              <a:ext cx="2384" cy="55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Microsoft YaHei" charset="-122"/>
                  <a:ea typeface="Microsoft YaHei" charset="-122"/>
                </a:rPr>
                <a:t>TJP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4504" y="3228"/>
              <a:ext cx="3285" cy="553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14812" y="3433"/>
              <a:ext cx="2201" cy="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Microsoft YaHei" charset="-122"/>
                  <a:ea typeface="Microsoft YaHei" charset="-122"/>
                </a:rPr>
                <a:t>智驾应用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988" y="3689"/>
              <a:ext cx="8940" cy="521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751" y="2665"/>
              <a:ext cx="1784" cy="729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Microsoft YaHei" charset="-122"/>
                  <a:ea typeface="Microsoft YaHei" charset="-122"/>
                </a:rPr>
                <a:t>RTK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4417" y="3499"/>
              <a:ext cx="405" cy="1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2" name="Down Arrow 21"/>
            <p:cNvSpPr/>
            <p:nvPr/>
          </p:nvSpPr>
          <p:spPr>
            <a:xfrm rot="10800000">
              <a:off x="4418" y="5973"/>
              <a:ext cx="405" cy="1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15706" y="6978"/>
              <a:ext cx="597" cy="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Microsoft YaHei" charset="-122"/>
                  <a:ea typeface="Microsoft YaHei" charset="-122"/>
                </a:rPr>
                <a:t>...</a:t>
              </a: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600" y="5205"/>
              <a:ext cx="488" cy="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38" y="4921"/>
              <a:ext cx="1875" cy="73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Microsoft YaHei" charset="-122"/>
                  <a:ea typeface="Microsoft YaHei" charset="-122"/>
                </a:rPr>
                <a:t>车机导航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2147" y="5041"/>
              <a:ext cx="1425" cy="4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496" y="4770"/>
              <a:ext cx="1830" cy="10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Microsoft YaHei" charset="-122"/>
                  <a:ea typeface="Microsoft YaHei" charset="-122"/>
                </a:rPr>
                <a:t>EHR</a:t>
              </a:r>
            </a:p>
          </p:txBody>
        </p:sp>
        <p:sp>
          <p:nvSpPr>
            <p:cNvPr id="31" name="Down Arrow 30"/>
            <p:cNvSpPr/>
            <p:nvPr/>
          </p:nvSpPr>
          <p:spPr>
            <a:xfrm>
              <a:off x="10223" y="5941"/>
              <a:ext cx="405" cy="1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32" name="Text Box 31"/>
            <p:cNvSpPr txBox="1"/>
            <p:nvPr/>
          </p:nvSpPr>
          <p:spPr>
            <a:xfrm>
              <a:off x="12080" y="2988"/>
              <a:ext cx="2610" cy="2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80604020202020204" pitchFamily="34" charset="0"/>
                <a:buChar char="•"/>
              </a:pPr>
              <a:r>
                <a:rPr lang="en-US" sz="1400" dirty="0">
                  <a:latin typeface="Microsoft YaHei" charset="-122"/>
                  <a:ea typeface="Microsoft YaHei" charset="-122"/>
                </a:rPr>
                <a:t>Position</a:t>
              </a:r>
            </a:p>
            <a:p>
              <a:pPr marL="285750" indent="-285750">
                <a:buFont typeface="Arial" panose="02080604020202020204" pitchFamily="34" charset="0"/>
                <a:buChar char="•"/>
              </a:pPr>
              <a:r>
                <a:rPr lang="en-US" sz="1400" dirty="0">
                  <a:latin typeface="Microsoft YaHei" charset="-122"/>
                  <a:ea typeface="Microsoft YaHei" charset="-122"/>
                </a:rPr>
                <a:t>Route Data</a:t>
              </a:r>
            </a:p>
            <a:p>
              <a:pPr marL="285750" indent="-285750">
                <a:buFont typeface="Arial" panose="02080604020202020204" pitchFamily="34" charset="0"/>
                <a:buChar char="•"/>
              </a:pPr>
              <a:r>
                <a:rPr lang="en-US" sz="1400" dirty="0">
                  <a:latin typeface="Microsoft YaHei" charset="-122"/>
                  <a:ea typeface="Microsoft YaHei" charset="-122"/>
                </a:rPr>
                <a:t>Path Control</a:t>
              </a:r>
            </a:p>
            <a:p>
              <a:pPr marL="285750" indent="-285750">
                <a:buFont typeface="Arial" panose="02080604020202020204" pitchFamily="34" charset="0"/>
                <a:buChar char="•"/>
              </a:pPr>
              <a:r>
                <a:rPr lang="en-US" sz="1400" dirty="0">
                  <a:latin typeface="Microsoft YaHei" charset="-122"/>
                  <a:ea typeface="Microsoft YaHei" charset="-122"/>
                </a:rPr>
                <a:t>Profile</a:t>
              </a:r>
            </a:p>
            <a:p>
              <a:pPr marL="285750" indent="-285750">
                <a:buFont typeface="Arial" panose="02080604020202020204" pitchFamily="34" charset="0"/>
                <a:buChar char="•"/>
              </a:pPr>
              <a:r>
                <a:rPr lang="en-US" sz="1400" dirty="0">
                  <a:latin typeface="Microsoft YaHei" charset="-122"/>
                  <a:ea typeface="Microsoft YaHei" charset="-122"/>
                </a:rPr>
                <a:t>Switch Info</a:t>
              </a:r>
            </a:p>
            <a:p>
              <a:pPr marL="285750" indent="-285750">
                <a:buFont typeface="Arial" panose="02080604020202020204" pitchFamily="34" charset="0"/>
                <a:buChar char="•"/>
              </a:pPr>
              <a:r>
                <a:rPr lang="en-US" sz="1400" dirty="0">
                  <a:latin typeface="Microsoft YaHei" charset="-122"/>
                  <a:ea typeface="Microsoft YaHei" charset="-122"/>
                </a:rPr>
                <a:t>......</a:t>
              </a:r>
            </a:p>
          </p:txBody>
        </p:sp>
        <p:sp>
          <p:nvSpPr>
            <p:cNvPr id="33" name="Text Box 32"/>
            <p:cNvSpPr txBox="1"/>
            <p:nvPr/>
          </p:nvSpPr>
          <p:spPr>
            <a:xfrm>
              <a:off x="10628" y="6022"/>
              <a:ext cx="1008" cy="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latin typeface="Microsoft YaHei" charset="-122"/>
                  <a:ea typeface="Microsoft YaHei" charset="-122"/>
                </a:rPr>
                <a:t>解析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82EEA77A-83F5-C6E4-C848-25754422A776}"/>
              </a:ext>
            </a:extLst>
          </p:cNvPr>
          <p:cNvSpPr txBox="1"/>
          <p:nvPr/>
        </p:nvSpPr>
        <p:spPr>
          <a:xfrm>
            <a:off x="1077013" y="6394400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  <a:latin typeface="Microsoft YaHei" charset="-122"/>
                <a:ea typeface="Microsoft YaHei" charset="-122"/>
              </a:rPr>
              <a:t>参考</a:t>
            </a:r>
            <a:r>
              <a:rPr lang="en-US" altLang="zh-CN" sz="1400" dirty="0">
                <a:solidFill>
                  <a:schemeClr val="tx1"/>
                </a:solidFill>
                <a:latin typeface="Microsoft YaHei" charset="-122"/>
                <a:ea typeface="Microsoft YaHei" charset="-122"/>
              </a:rPr>
              <a:t>《ADASIS v3 </a:t>
            </a:r>
            <a:r>
              <a:rPr lang="zh-CN" altLang="en-US" sz="1400" dirty="0">
                <a:solidFill>
                  <a:schemeClr val="tx1"/>
                </a:solidFill>
                <a:latin typeface="Microsoft YaHei" charset="-122"/>
                <a:ea typeface="Microsoft YaHei" charset="-122"/>
              </a:rPr>
              <a:t>协议：地图数据传输标准化通信协议</a:t>
            </a:r>
            <a:r>
              <a:rPr lang="en-US" altLang="zh-CN" sz="1400" dirty="0">
                <a:solidFill>
                  <a:schemeClr val="tx1"/>
                </a:solidFill>
                <a:latin typeface="Microsoft YaHei" charset="-122"/>
                <a:ea typeface="Microsoft YaHei" charset="-122"/>
              </a:rPr>
              <a:t>》</a:t>
            </a:r>
            <a:endPara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8917" y="264318"/>
            <a:ext cx="5655302" cy="557530"/>
          </a:xfrm>
        </p:spPr>
        <p:txBody>
          <a:bodyPr/>
          <a:lstStyle/>
          <a:p>
            <a:r>
              <a:rPr lang="en-US" altLang="zh-CN" dirty="0">
                <a:latin typeface="Microsoft YaHei" charset="-122"/>
                <a:ea typeface="Microsoft YaHei" charset="-122"/>
              </a:rPr>
              <a:t>SD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数据引擎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863" y="912489"/>
            <a:ext cx="4305557" cy="5033022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42620" y="1001395"/>
            <a:ext cx="48545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600">
              <a:latin typeface="Microsoft YaHei" charset="-122"/>
              <a:ea typeface="Microsoft YaHei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06721" y="935407"/>
            <a:ext cx="7070391" cy="25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zh-CN" dirty="0">
                <a:latin typeface="Microsoft YaHei" charset="-122"/>
                <a:ea typeface="Microsoft YaHei" charset="-122"/>
              </a:rPr>
              <a:t>SD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数据引擎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SDK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是一套供上层业务方检索地图数据的服务及</a:t>
            </a:r>
            <a:r>
              <a:rPr lang="zh-CN" altLang="en-US" i="1" dirty="0">
                <a:latin typeface="Microsoft YaHei" charset="-122"/>
                <a:ea typeface="Microsoft YaHei" charset="-122"/>
              </a:rPr>
              <a:t>接口；</a:t>
            </a:r>
          </a:p>
          <a:p>
            <a:pPr marL="285750" indent="-285750" algn="l" fontAlgn="auto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提供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SD/HD Air/HD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多级别数据的独立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API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接口；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 </a:t>
            </a:r>
            <a:endParaRPr lang="zh-CN" altLang="en-US" dirty="0">
              <a:latin typeface="Microsoft YaHei" charset="-122"/>
              <a:ea typeface="Microsoft YaHei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支持在线加载和离线本地读取两种模式获取数据文件；</a:t>
            </a:r>
          </a:p>
          <a:p>
            <a:pPr marL="285750" indent="-285750" algn="l" fontAlgn="auto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同时支持多个业务方创建多个引擎接口来加载地图数据;</a:t>
            </a:r>
          </a:p>
          <a:p>
            <a:pPr marL="285750" indent="-285750" algn="l" fontAlgn="auto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支持平台：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 </a:t>
            </a:r>
            <a:r>
              <a:rPr lang="en-US" altLang="zh-CN" dirty="0" err="1">
                <a:latin typeface="Microsoft YaHei" charset="-122"/>
                <a:ea typeface="Microsoft YaHei" charset="-122"/>
              </a:rPr>
              <a:t>linux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 x86_64/aarch64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等，可直接部署在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SOC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中；</a:t>
            </a:r>
          </a:p>
          <a:p>
            <a:pPr marL="285750" indent="-285750" algn="l" fontAlgn="auto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语言：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 </a:t>
            </a:r>
            <a:r>
              <a:rPr lang="en-US" altLang="zh-CN" dirty="0" err="1">
                <a:latin typeface="Microsoft YaHei" charset="-122"/>
                <a:ea typeface="Microsoft YaHei" charset="-122"/>
              </a:rPr>
              <a:t>c++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10318" y="264318"/>
            <a:ext cx="5655302" cy="557530"/>
          </a:xfrm>
        </p:spPr>
        <p:txBody>
          <a:bodyPr/>
          <a:lstStyle/>
          <a:p>
            <a:r>
              <a:rPr lang="en-US" dirty="0"/>
              <a:t>SD</a:t>
            </a:r>
            <a:r>
              <a:rPr lang="zh-CN" altLang="en-US" dirty="0"/>
              <a:t>数据引擎示意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/>
          <a:srcRect l="8389" t="10809" r="3355" b="6636"/>
          <a:stretch>
            <a:fillRect/>
          </a:stretch>
        </p:blipFill>
        <p:spPr>
          <a:xfrm>
            <a:off x="568261" y="1718833"/>
            <a:ext cx="8141335" cy="39712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08281" y="887836"/>
            <a:ext cx="10113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红色路径点：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 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导航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3.0 APP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透出的导航路径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(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金科园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-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浦东机场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)</a:t>
            </a:r>
            <a:endParaRPr lang="zh-CN" altLang="en-US" dirty="0">
              <a:latin typeface="Microsoft YaHei" charset="-122"/>
              <a:ea typeface="Microsoft YaHei" charset="-122"/>
            </a:endParaRPr>
          </a:p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</a:rPr>
              <a:t>底图：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SD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数据引擎透出</a:t>
            </a:r>
            <a:r>
              <a:rPr lang="en-US" altLang="zh-CN" dirty="0">
                <a:latin typeface="Microsoft YaHei" charset="-122"/>
                <a:ea typeface="Microsoft YaHei" charset="-122"/>
              </a:rPr>
              <a:t>Link</a:t>
            </a:r>
          </a:p>
          <a:p>
            <a:pPr marL="285750" indent="-285750" algn="l">
              <a:buFont typeface="Arial" panose="02080604020202020204" pitchFamily="34" charset="0"/>
              <a:buChar char="•"/>
            </a:pPr>
            <a:endParaRPr lang="en-US" altLang="zh-CN" dirty="0">
              <a:latin typeface="Microsoft YaHei" charset="-122"/>
              <a:ea typeface="Microsoft YaHei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 l="8706" r="6435"/>
          <a:stretch>
            <a:fillRect/>
          </a:stretch>
        </p:blipFill>
        <p:spPr>
          <a:xfrm>
            <a:off x="8236835" y="3242862"/>
            <a:ext cx="3790950" cy="232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6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16050" y="302026"/>
            <a:ext cx="9500334" cy="557530"/>
          </a:xfrm>
        </p:spPr>
        <p:txBody>
          <a:bodyPr/>
          <a:lstStyle/>
          <a:p>
            <a:r>
              <a:rPr lang="zh-CN" altLang="en-US" dirty="0"/>
              <a:t>腾讯</a:t>
            </a:r>
            <a:r>
              <a:rPr lang="en-US" altLang="zh-CN" dirty="0"/>
              <a:t>SD</a:t>
            </a:r>
            <a:r>
              <a:rPr lang="zh-CN" altLang="en-US" dirty="0"/>
              <a:t>导航地图</a:t>
            </a:r>
            <a:r>
              <a:rPr lang="en-US" altLang="zh-CN" dirty="0"/>
              <a:t>APP</a:t>
            </a:r>
            <a:r>
              <a:rPr lang="zh-CN" altLang="en-US" dirty="0"/>
              <a:t>和数据</a:t>
            </a:r>
            <a:r>
              <a:rPr lang="en-US" altLang="zh-CN" dirty="0"/>
              <a:t>API</a:t>
            </a:r>
          </a:p>
          <a:p>
            <a:endParaRPr lang="zh-CN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008281" y="1028118"/>
            <a:ext cx="18103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1. 全局路径信息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16269"/>
          <a:stretch>
            <a:fillRect/>
          </a:stretch>
        </p:blipFill>
        <p:spPr>
          <a:xfrm>
            <a:off x="857568" y="1551940"/>
            <a:ext cx="5392420" cy="395986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Table 7"/>
          <p:cNvGraphicFramePr/>
          <p:nvPr/>
        </p:nvGraphicFramePr>
        <p:xfrm>
          <a:off x="6584950" y="1551940"/>
          <a:ext cx="4534535" cy="510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获取收费金额</a:t>
                      </a:r>
                    </a:p>
                  </a:txBody>
                  <a:tcPr/>
                </a:tc>
                <a:tc row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/>
                        <a:t>新版腾讯导航</a:t>
                      </a:r>
                      <a:r>
                        <a:rPr lang="en-US" altLang="zh-CN" sz="1000"/>
                        <a:t>APP </a:t>
                      </a:r>
                      <a:r>
                        <a:rPr lang="zh-CN" altLang="en-US" sz="1000"/>
                        <a:t>仅透出路线</a:t>
                      </a:r>
                      <a:r>
                        <a:rPr lang="en-US" altLang="zh-CN" sz="1000"/>
                        <a:t>LinkID</a:t>
                      </a:r>
                      <a:r>
                        <a:rPr lang="zh-CN" altLang="en-US" sz="1000"/>
                        <a:t>信息，需去数据引擎中自行检索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getFirstEtaSeconds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获取规划时估计的驾驶时间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getFirstTrafficZones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获取路线原始的路况信息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getGuidanceSegments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获取导航行程段信息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获取路线长度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getLightCount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路线红绿灯数量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getRouteId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当前路线routeid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getShapePoints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获取路线点串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获取路线多标签信息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getViaList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获取途径点列表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getTollText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获取收费站信息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getRoadNames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获</a:t>
                      </a:r>
                      <a:r>
                        <a:rPr lang="en-US" sz="1000"/>
                        <a:t>取路线上所有道路段</a:t>
                      </a:r>
                      <a:r>
                        <a:rPr lang="zh-CN" altLang="en-US" sz="1000"/>
                        <a:t>路名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getLimitRangeList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获取限行区间列表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08281" y="330306"/>
            <a:ext cx="9500334" cy="557530"/>
          </a:xfrm>
        </p:spPr>
        <p:txBody>
          <a:bodyPr/>
          <a:lstStyle/>
          <a:p>
            <a:r>
              <a:rPr lang="zh-CN" altLang="en-US" dirty="0"/>
              <a:t>腾讯</a:t>
            </a:r>
            <a:r>
              <a:rPr lang="en-US" altLang="zh-CN" dirty="0"/>
              <a:t>SD</a:t>
            </a:r>
            <a:r>
              <a:rPr lang="zh-CN" altLang="en-US" dirty="0"/>
              <a:t>导航地图</a:t>
            </a:r>
            <a:r>
              <a:rPr lang="en-US" altLang="zh-CN" dirty="0"/>
              <a:t>APP</a:t>
            </a:r>
            <a:r>
              <a:rPr lang="zh-CN" altLang="en-US" dirty="0"/>
              <a:t>和数据</a:t>
            </a:r>
            <a:r>
              <a:rPr lang="en-US" altLang="zh-CN" dirty="0"/>
              <a:t>API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08281" y="931933"/>
            <a:ext cx="395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  <a:sym typeface="+mn-ea"/>
              </a:rPr>
              <a:t>2. 基础引导信</a:t>
            </a:r>
            <a:r>
              <a:rPr lang="en-US" dirty="0">
                <a:latin typeface="Microsoft YaHei" charset="-122"/>
                <a:ea typeface="Microsoft YaHei" charset="-122"/>
                <a:sym typeface="+mn-ea"/>
              </a:rPr>
              <a:t>息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088221" y="1345511"/>
            <a:ext cx="4180205" cy="2495609"/>
            <a:chOff x="1016" y="2619"/>
            <a:chExt cx="8373" cy="514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" y="3472"/>
              <a:ext cx="8373" cy="42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 Box 6"/>
            <p:cNvSpPr txBox="1"/>
            <p:nvPr/>
          </p:nvSpPr>
          <p:spPr>
            <a:xfrm>
              <a:off x="1016" y="2619"/>
              <a:ext cx="4000" cy="6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0" algn="l"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600" dirty="0">
                  <a:latin typeface="Microsoft YaHei" charset="-122"/>
                  <a:ea typeface="Microsoft YaHei" charset="-122"/>
                  <a:cs typeface="Microsoft YaHei" charset="-122"/>
                </a:rPr>
                <a:t>前方单个机动点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088221" y="3962318"/>
            <a:ext cx="4180205" cy="2721467"/>
            <a:chOff x="9785" y="2422"/>
            <a:chExt cx="7178" cy="608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85" y="3472"/>
              <a:ext cx="7178" cy="50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Text Box 9"/>
            <p:cNvSpPr txBox="1"/>
            <p:nvPr/>
          </p:nvSpPr>
          <p:spPr>
            <a:xfrm>
              <a:off x="9785" y="2422"/>
              <a:ext cx="4000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0" algn="l">
                <a:buFont typeface="Wingdings" panose="05000000000000000000" pitchFamily="2" charset="2"/>
                <a:buNone/>
              </a:pPr>
              <a:r>
                <a:rPr lang="zh-CN" altLang="en-US" sz="1600" dirty="0">
                  <a:latin typeface="Microsoft YaHei" charset="-122"/>
                  <a:ea typeface="Microsoft YaHei" charset="-122"/>
                  <a:cs typeface="Microsoft YaHei" charset="-122"/>
                </a:rPr>
                <a:t>前方多个机</a:t>
              </a:r>
              <a:r>
                <a:rPr lang="en-US" sz="1600" dirty="0" err="1"/>
                <a:t>动点</a:t>
              </a:r>
              <a:endParaRPr lang="en-US" sz="1600" dirty="0"/>
            </a:p>
          </p:txBody>
        </p:sp>
      </p:grpSp>
      <p:graphicFrame>
        <p:nvGraphicFramePr>
          <p:cNvPr id="8" name="Table 7"/>
          <p:cNvGraphicFramePr/>
          <p:nvPr/>
        </p:nvGraphicFramePr>
        <p:xfrm>
          <a:off x="5833110" y="932180"/>
          <a:ext cx="5886450" cy="547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nextIntersectionType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当前机动点类型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nextIntersectionRoadName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当前机动点的路名/方向指示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nextIntersectionRemainDistance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自车点到当前机动点的剩余距离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closeIntersectionActionLength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连续转向路口的路口内距离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closeIntersectionLength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自车到连续机动点距离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closeIntersectionType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连续机动点类型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connectionLength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当前导航段前段连接路长度，如：匝道，JCT等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部分连接路长度缺失或错误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roadClass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当前导航段道路等级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部分路段划分不准确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roadName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当前导航段主路名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segmentIndex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导航段索引下标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segmentLength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当前导航段长度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tunnelLength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当前导航段前段隧道内长度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remainSeconds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路线剩余时间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totalRemainDistance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全程剩余距离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speedLimit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当前路段限速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1. 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部分路段，如匝道等无限速信息；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2. 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部分路段限速与实际道路不一致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08280" y="330306"/>
            <a:ext cx="9393019" cy="557530"/>
          </a:xfrm>
        </p:spPr>
        <p:txBody>
          <a:bodyPr/>
          <a:lstStyle/>
          <a:p>
            <a:r>
              <a:rPr lang="zh-CN" altLang="en-US" dirty="0"/>
              <a:t>腾讯</a:t>
            </a:r>
            <a:r>
              <a:rPr lang="en-US" altLang="zh-CN" dirty="0"/>
              <a:t>SD</a:t>
            </a:r>
            <a:r>
              <a:rPr lang="zh-CN" altLang="en-US" dirty="0"/>
              <a:t>导航地图</a:t>
            </a:r>
            <a:r>
              <a:rPr lang="en-US" altLang="zh-CN" dirty="0"/>
              <a:t>APP</a:t>
            </a:r>
            <a:r>
              <a:rPr lang="zh-CN" altLang="en-US" dirty="0"/>
              <a:t>和数据</a:t>
            </a:r>
            <a:r>
              <a:rPr lang="en-US" altLang="zh-CN" dirty="0"/>
              <a:t>API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008063" y="88773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>
                <a:latin typeface="Microsoft YaHei" charset="-122"/>
                <a:ea typeface="Microsoft YaHei" charset="-122"/>
              </a:rPr>
              <a:t>3.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 车道信息</a:t>
            </a:r>
            <a:endParaRPr lang="zh-CN" altLang="en-US" sz="1600">
              <a:latin typeface="Microsoft YaHei" charset="-122"/>
              <a:ea typeface="Microsoft YaHei" charset="-122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862965" y="1426845"/>
            <a:ext cx="4663440" cy="256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 Box 15"/>
          <p:cNvSpPr txBox="1"/>
          <p:nvPr/>
        </p:nvSpPr>
        <p:spPr>
          <a:xfrm>
            <a:off x="6428423" y="88773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4. 高速设施</a:t>
            </a:r>
          </a:p>
        </p:txBody>
      </p:sp>
      <p:pic>
        <p:nvPicPr>
          <p:cNvPr id="17" name="Picture 16"/>
          <p:cNvPicPr/>
          <p:nvPr/>
        </p:nvPicPr>
        <p:blipFill>
          <a:blip r:embed="rId3"/>
          <a:stretch>
            <a:fillRect/>
          </a:stretch>
        </p:blipFill>
        <p:spPr>
          <a:xfrm>
            <a:off x="6635115" y="1395730"/>
            <a:ext cx="4663440" cy="256032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3" name="Table 2"/>
          <p:cNvGraphicFramePr/>
          <p:nvPr/>
        </p:nvGraphicFramePr>
        <p:xfrm>
          <a:off x="862965" y="4211955"/>
          <a:ext cx="4631690" cy="190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icrosoft YaHei" charset="-122"/>
                          <a:ea typeface="Microsoft YaHei" charset="-122"/>
                        </a:rPr>
                        <a:t>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车道转向信息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1. 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车道信息更新不及时，大部分高架高速路段无此信息；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2. 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车道数不准确，部分路段与实际道路不符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;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3. 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一分二路段车道信息缺失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;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000">
                        <a:solidFill>
                          <a:schemeClr val="tx1"/>
                        </a:solidFill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icrosoft YaHei" charset="-122"/>
                          <a:ea typeface="Microsoft YaHei" charset="-122"/>
                        </a:rPr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车道高亮信息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Microsoft YaHei" charset="-122"/>
                          <a:ea typeface="Microsoft YaHei" charset="-122"/>
                        </a:rPr>
                        <a:t>lanenum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车道数量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Microsoft YaHei" charset="-122"/>
                          <a:ea typeface="Microsoft YaHei" charset="-122"/>
                        </a:rPr>
                        <a:t>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推荐车道标识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/>
          <p:nvPr/>
        </p:nvGraphicFramePr>
        <p:xfrm>
          <a:off x="6635115" y="4211320"/>
          <a:ext cx="4662805" cy="1904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6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channelsType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设施类型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自车点到设施距离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设施名称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推荐车道标识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poiInfo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服务区内POI信息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893</Words>
  <Application>Microsoft Office PowerPoint</Application>
  <PresentationFormat>宽屏</PresentationFormat>
  <Paragraphs>209</Paragraphs>
  <Slides>11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微软雅黑</vt:lpstr>
      <vt:lpstr>微软雅黑</vt:lpstr>
      <vt:lpstr>Arial</vt:lpstr>
      <vt:lpstr>Wingdings</vt:lpstr>
      <vt:lpstr>Office 主题​​</vt:lpstr>
      <vt:lpstr>Package</vt:lpstr>
      <vt:lpstr>各地图产品介绍材料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地图介绍材料</dc:title>
  <dc:creator>Kun Deng</dc:creator>
  <cp:lastModifiedBy>Kun Deng</cp:lastModifiedBy>
  <cp:revision>3</cp:revision>
  <dcterms:created xsi:type="dcterms:W3CDTF">2024-04-28T07:20:20Z</dcterms:created>
  <dcterms:modified xsi:type="dcterms:W3CDTF">2024-04-28T08:34:54Z</dcterms:modified>
</cp:coreProperties>
</file>