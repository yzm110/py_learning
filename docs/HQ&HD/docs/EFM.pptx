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451" r:id="rId3"/>
    <p:sldId id="486" r:id="rId4"/>
  </p:sldIdLst>
  <p:sldSz cx="12192000" cy="6858000"/>
  <p:notesSz cx="6858000" cy="9144000"/>
  <p:embeddedFontLst>
    <p:embeddedFont>
      <p:font typeface="微软雅黑" panose="020B0503020204020204" charset="-122"/>
      <p:regular r:id="rId10"/>
    </p:embeddedFont>
    <p:embeddedFont>
      <p:font typeface="等线" panose="02010600030101010101" charset="-122"/>
      <p:regular r:id="rId11"/>
    </p:embeddedFont>
  </p:embeddedFontLst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400" userDrawn="1">
          <p15:clr>
            <a:srgbClr val="A4A3A4"/>
          </p15:clr>
        </p15:guide>
        <p15:guide id="2" orient="horz" pos="3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D0E1"/>
    <a:srgbClr val="C0ECF2"/>
    <a:srgbClr val="5B6E7E"/>
    <a:srgbClr val="5FCFE3"/>
    <a:srgbClr val="5ECFE3"/>
    <a:srgbClr val="5A6E7E"/>
    <a:srgbClr val="003743"/>
    <a:srgbClr val="BFC8CB"/>
    <a:srgbClr val="8D989E"/>
    <a:srgbClr val="F0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47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56" y="64"/>
      </p:cViewPr>
      <p:guideLst>
        <p:guide pos="6400"/>
        <p:guide orient="horz" pos="34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8.xml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48873-ACF0-4798-A821-25B36B9134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CCD7F5-C87B-4F5F-9EB4-D8744900387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70D63-08B6-49DB-B9D5-233F72599F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DE0E5-7C8C-4B44-8F8B-DFE688A35B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tags" Target="../tags/tag3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8"/>
          <p:cNvSpPr>
            <a:spLocks noGrp="1"/>
          </p:cNvSpPr>
          <p:nvPr userDrawn="1">
            <p:custDataLst>
              <p:tags r:id="rId3"/>
            </p:custDataLst>
          </p:nvPr>
        </p:nvSpPr>
        <p:spPr>
          <a:xfrm>
            <a:off x="424878" y="6341813"/>
            <a:ext cx="7402019" cy="5162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685" dirty="0">
                <a:solidFill>
                  <a:schemeClr val="bg2"/>
                </a:solidFill>
                <a:sym typeface="+mn-ea"/>
              </a:rPr>
              <a:t>所有版权归吉咖智能机器人所有。任何人不得以任何方式部分或全部进行复制或传播。吉咖智能机器人保留追究法律责任的权利。 </a:t>
            </a:r>
            <a:endParaRPr lang="zh-CN" altLang="en-US" sz="685" spc="200" dirty="0">
              <a:solidFill>
                <a:schemeClr val="bg2"/>
              </a:solidFill>
              <a:effectLst/>
              <a:uFillTx/>
              <a:sym typeface="+mn-ea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28269" y="6206787"/>
            <a:ext cx="2743605" cy="365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91C5301-4C89-4C3D-830F-33EF3B52F3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8" hasCustomPrompt="1"/>
          </p:nvPr>
        </p:nvSpPr>
        <p:spPr>
          <a:xfrm>
            <a:off x="486803" y="3295050"/>
            <a:ext cx="4129583" cy="2641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1800" kern="1200" spc="200" dirty="0" smtClean="0"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>
                <a:sym typeface="+mn-ea"/>
              </a:rPr>
              <a:t>YYYY/MM/DD</a:t>
            </a:r>
            <a:endParaRPr lang="zh-CN" altLang="en-US" dirty="0" smtClean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5" hasCustomPrompt="1"/>
          </p:nvPr>
        </p:nvSpPr>
        <p:spPr>
          <a:xfrm>
            <a:off x="495979" y="1848485"/>
            <a:ext cx="4284788" cy="1278255"/>
          </a:xfrm>
          <a:prstGeom prst="rect">
            <a:avLst/>
          </a:prstGeom>
        </p:spPr>
        <p:txBody>
          <a:bodyPr/>
          <a:lstStyle>
            <a:lvl1pPr marL="0" indent="0" eaLnBrk="1" fontAlgn="auto" latinLnBrk="0" hangingPunct="1">
              <a:lnSpc>
                <a:spcPct val="11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 smtClean="0"/>
              <a:t>吉咖智能</a:t>
            </a:r>
            <a:r>
              <a:rPr lang="en-US" altLang="zh-CN" dirty="0" smtClean="0"/>
              <a:t>PPT</a:t>
            </a:r>
            <a:r>
              <a:rPr lang="zh-CN" altLang="en-US" dirty="0" smtClean="0"/>
              <a:t>模板标题文字</a:t>
            </a:r>
            <a:r>
              <a:rPr lang="en-US" altLang="zh-CN" dirty="0" smtClean="0"/>
              <a:t> 36pt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8"/>
          <p:cNvSpPr>
            <a:spLocks noGrp="1"/>
          </p:cNvSpPr>
          <p:nvPr userDrawn="1">
            <p:custDataLst>
              <p:tags r:id="rId3"/>
            </p:custDataLst>
          </p:nvPr>
        </p:nvSpPr>
        <p:spPr>
          <a:xfrm>
            <a:off x="424878" y="6341813"/>
            <a:ext cx="7402019" cy="5162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685" dirty="0">
                <a:solidFill>
                  <a:schemeClr val="bg2"/>
                </a:solidFill>
                <a:sym typeface="+mn-ea"/>
              </a:rPr>
              <a:t>所有版权归吉咖智能机器人所有。任何人不得以任何方式部分或全部进行复制或传播。吉咖智能机器人保留追究法律责任的权利。 </a:t>
            </a:r>
            <a:endParaRPr lang="zh-CN" altLang="en-US" sz="685" spc="200" dirty="0">
              <a:solidFill>
                <a:schemeClr val="bg2"/>
              </a:solidFill>
              <a:effectLst/>
              <a:uFillTx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4200" y="76195"/>
            <a:ext cx="1509403" cy="9807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9576" y="226157"/>
            <a:ext cx="1217124" cy="703080"/>
          </a:xfrm>
          <a:prstGeom prst="rect">
            <a:avLst/>
          </a:prstGeom>
        </p:spPr>
      </p:pic>
      <p:sp>
        <p:nvSpPr>
          <p:cNvPr id="7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28269" y="6206787"/>
            <a:ext cx="2743605" cy="365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91C5301-4C89-4C3D-830F-33EF3B52F3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794487" y="378143"/>
            <a:ext cx="5766719" cy="376873"/>
          </a:xfrm>
          <a:prstGeom prst="rect">
            <a:avLst/>
          </a:prstGeom>
        </p:spPr>
        <p:txBody>
          <a:bodyPr anchor="ctr" anchorCtr="0"/>
          <a:lstStyle>
            <a:lvl1pPr marL="0" indent="0" algn="l" fontAlgn="ctr">
              <a:lnSpc>
                <a:spcPct val="100000"/>
              </a:lnSpc>
              <a:buNone/>
              <a:defRPr lang="zh-CN" altLang="en-US" sz="2800" kern="1200" spc="3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+mj-ea"/>
                <a:ea typeface="+mj-ea"/>
                <a:cs typeface="+mn-cs"/>
              </a:defRPr>
            </a:lvl1pPr>
          </a:lstStyle>
          <a:p>
            <a:pPr marL="0" indent="0">
              <a:lnSpc>
                <a:spcPct val="80000"/>
              </a:lnSpc>
              <a:buNone/>
            </a:pPr>
            <a:r>
              <a:rPr>
                <a:sym typeface="+mn-ea"/>
              </a:rPr>
              <a:t>每页标题</a:t>
            </a:r>
            <a:r>
              <a:rPr lang="en-US" altLang="zh-CN">
                <a:sym typeface="+mn-ea"/>
              </a:rPr>
              <a:t> 28pt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8"/>
          <p:cNvSpPr>
            <a:spLocks noGrp="1"/>
          </p:cNvSpPr>
          <p:nvPr userDrawn="1">
            <p:custDataLst>
              <p:tags r:id="rId3"/>
            </p:custDataLst>
          </p:nvPr>
        </p:nvSpPr>
        <p:spPr>
          <a:xfrm>
            <a:off x="424878" y="6341813"/>
            <a:ext cx="7402019" cy="5162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685" dirty="0">
                <a:solidFill>
                  <a:srgbClr val="5A6E7E"/>
                </a:solidFill>
                <a:sym typeface="+mn-ea"/>
              </a:rPr>
              <a:t>所有版权归吉咖智能机器人所有。任何人不得以任何方式部分或全部进行复制或传播。吉咖智能机器人保留追究法律责任的权利。 </a:t>
            </a:r>
            <a:endParaRPr lang="zh-CN" altLang="en-US" sz="685" spc="200" dirty="0">
              <a:solidFill>
                <a:srgbClr val="5A6E7E"/>
              </a:solidFill>
              <a:effectLst/>
              <a:uFillTx/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73" y="769719"/>
            <a:ext cx="2314890" cy="1504194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2134297" y="1096142"/>
            <a:ext cx="7273850" cy="91441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5400" kern="1200" spc="3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7" hasCustomPrompt="1"/>
          </p:nvPr>
        </p:nvSpPr>
        <p:spPr>
          <a:xfrm>
            <a:off x="2125024" y="2236514"/>
            <a:ext cx="7838646" cy="5067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800" kern="1200" spc="3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 smtClean="0"/>
              <a:t>章节页标题</a:t>
            </a:r>
            <a:endParaRPr lang="zh-CN" altLang="en-US" dirty="0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8" hasCustomPrompt="1"/>
          </p:nvPr>
        </p:nvSpPr>
        <p:spPr>
          <a:xfrm>
            <a:off x="2134679" y="2999488"/>
            <a:ext cx="7837058" cy="557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1800" kern="1200" spc="2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 smtClean="0"/>
              <a:t>副标题文字</a:t>
            </a:r>
            <a:endParaRPr lang="zh-CN" altLang="en-US" dirty="0" smtClean="0"/>
          </a:p>
        </p:txBody>
      </p:sp>
      <p:sp>
        <p:nvSpPr>
          <p:cNvPr id="20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28269" y="6206787"/>
            <a:ext cx="2743605" cy="365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91C5301-4C89-4C3D-830F-33EF3B52F3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8"/>
          <p:cNvSpPr>
            <a:spLocks noGrp="1"/>
          </p:cNvSpPr>
          <p:nvPr userDrawn="1">
            <p:custDataLst>
              <p:tags r:id="rId3"/>
            </p:custDataLst>
          </p:nvPr>
        </p:nvSpPr>
        <p:spPr>
          <a:xfrm>
            <a:off x="424878" y="6341813"/>
            <a:ext cx="7402019" cy="5162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685" dirty="0">
                <a:solidFill>
                  <a:schemeClr val="bg2"/>
                </a:solidFill>
                <a:sym typeface="+mn-ea"/>
              </a:rPr>
              <a:t>所有版权归吉咖智能机器人所有。任何人不得以任何方式部分或全部进行复制或传播。吉咖智能机器人保留追究法律责任的权利。 </a:t>
            </a:r>
            <a:endParaRPr lang="zh-CN" altLang="en-US" sz="685" spc="200" dirty="0">
              <a:solidFill>
                <a:schemeClr val="bg2"/>
              </a:solidFill>
              <a:effectLst/>
              <a:uFillTx/>
              <a:sym typeface="+mn-ea"/>
            </a:endParaRPr>
          </a:p>
        </p:txBody>
      </p:sp>
      <p:sp>
        <p:nvSpPr>
          <p:cNvPr id="16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28269" y="6206787"/>
            <a:ext cx="2743605" cy="365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91C5301-4C89-4C3D-830F-33EF3B52F3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solidFill>
          <a:srgbClr val="344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C5301-4C89-4C3D-830F-33EF3B52F3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28269" y="6206787"/>
            <a:ext cx="2743605" cy="365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91C5301-4C89-4C3D-830F-33EF3B52F360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tags" Target="../tags/tag6.xml"/><Relationship Id="rId2" Type="http://schemas.openxmlformats.org/officeDocument/2006/relationships/image" Target="../media/image7.png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985" y="1097915"/>
            <a:ext cx="4085590" cy="42513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058920" y="885190"/>
            <a:ext cx="7848600" cy="48958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3740" y="6289153"/>
            <a:ext cx="2680196" cy="356739"/>
          </a:xfrm>
        </p:spPr>
        <p:txBody>
          <a:bodyPr/>
          <a:lstStyle/>
          <a:p>
            <a:fld id="{E91C5301-4C89-4C3D-830F-33EF3B52F360}" type="slidenum">
              <a:rPr lang="zh-CN" altLang="en-US" sz="780" smtClean="0"/>
            </a:fld>
            <a:endParaRPr lang="zh-CN" altLang="en-US" sz="780"/>
          </a:p>
        </p:txBody>
      </p:sp>
      <p:sp>
        <p:nvSpPr>
          <p:cNvPr id="4" name="文本框 3"/>
          <p:cNvSpPr txBox="1"/>
          <p:nvPr/>
        </p:nvSpPr>
        <p:spPr>
          <a:xfrm>
            <a:off x="794385" y="293370"/>
            <a:ext cx="45059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i="0" spc="20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当前承接的需求以及架构</a:t>
            </a:r>
            <a:endParaRPr kumimoji="0" lang="zh-CN" sz="2800" i="0" spc="20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4944110" y="1518285"/>
            <a:ext cx="4055110" cy="4098925"/>
          </a:xfrm>
          <a:custGeom>
            <a:avLst/>
            <a:gdLst>
              <a:gd name="connisteX0" fmla="*/ 0 w 4055110"/>
              <a:gd name="connsiteY0" fmla="*/ 8890 h 4098925"/>
              <a:gd name="connisteX1" fmla="*/ 1482725 w 4055110"/>
              <a:gd name="connsiteY1" fmla="*/ 8890 h 4098925"/>
              <a:gd name="connisteX2" fmla="*/ 1482725 w 4055110"/>
              <a:gd name="connsiteY2" fmla="*/ 2259330 h 4098925"/>
              <a:gd name="connisteX3" fmla="*/ 4055110 w 4055110"/>
              <a:gd name="connsiteY3" fmla="*/ 2250440 h 4098925"/>
              <a:gd name="connisteX4" fmla="*/ 4055110 w 4055110"/>
              <a:gd name="connsiteY4" fmla="*/ 4098925 h 4098925"/>
              <a:gd name="connisteX5" fmla="*/ 86995 w 4055110"/>
              <a:gd name="connsiteY5" fmla="*/ 4046855 h 4098925"/>
              <a:gd name="connisteX6" fmla="*/ 34925 w 4055110"/>
              <a:gd name="connsiteY6" fmla="*/ 0 h 409892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4055110" h="4098925">
                <a:moveTo>
                  <a:pt x="0" y="8890"/>
                </a:moveTo>
                <a:lnTo>
                  <a:pt x="1482725" y="8890"/>
                </a:lnTo>
                <a:lnTo>
                  <a:pt x="1482725" y="2259330"/>
                </a:lnTo>
                <a:lnTo>
                  <a:pt x="4055110" y="2250440"/>
                </a:lnTo>
                <a:lnTo>
                  <a:pt x="4055110" y="4098925"/>
                </a:lnTo>
                <a:lnTo>
                  <a:pt x="86995" y="4046855"/>
                </a:lnTo>
                <a:lnTo>
                  <a:pt x="34925" y="0"/>
                </a:lnTo>
              </a:path>
            </a:pathLst>
          </a:custGeom>
          <a:noFill/>
          <a:ln w="12700" cmpd="sng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2395" y="3507105"/>
            <a:ext cx="3846195" cy="479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2885" y="563181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目标</a:t>
            </a:r>
            <a:r>
              <a:rPr lang="en-US" altLang="zh-CN" sz="2000">
                <a:solidFill>
                  <a:srgbClr val="FF0000"/>
                </a:solidFill>
              </a:rPr>
              <a:t>11/15</a:t>
            </a:r>
            <a:r>
              <a:rPr lang="zh-CN" altLang="en-US" sz="2000">
                <a:solidFill>
                  <a:srgbClr val="FF0000"/>
                </a:solidFill>
              </a:rPr>
              <a:t>完成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0655" y="981075"/>
            <a:ext cx="7848600" cy="48958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3740" y="6289153"/>
            <a:ext cx="2680196" cy="356739"/>
          </a:xfrm>
        </p:spPr>
        <p:txBody>
          <a:bodyPr/>
          <a:lstStyle/>
          <a:p>
            <a:fld id="{E91C5301-4C89-4C3D-830F-33EF3B52F360}" type="slidenum">
              <a:rPr lang="zh-CN" altLang="en-US" sz="780" smtClean="0"/>
            </a:fld>
            <a:endParaRPr lang="zh-CN" altLang="en-US" sz="780"/>
          </a:p>
        </p:txBody>
      </p:sp>
      <p:sp>
        <p:nvSpPr>
          <p:cNvPr id="4" name="文本框 3"/>
          <p:cNvSpPr txBox="1"/>
          <p:nvPr/>
        </p:nvSpPr>
        <p:spPr>
          <a:xfrm>
            <a:off x="794385" y="293370"/>
            <a:ext cx="45059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i="0" spc="20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下一步计划</a:t>
            </a:r>
            <a:endParaRPr kumimoji="0" lang="zh-CN" sz="2800" i="0" spc="20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任意多边形 1"/>
          <p:cNvSpPr/>
          <p:nvPr/>
        </p:nvSpPr>
        <p:spPr>
          <a:xfrm>
            <a:off x="3313430" y="1353185"/>
            <a:ext cx="3845560" cy="4307840"/>
          </a:xfrm>
          <a:custGeom>
            <a:avLst/>
            <a:gdLst>
              <a:gd name="connisteX0" fmla="*/ 0 w 3845560"/>
              <a:gd name="connsiteY0" fmla="*/ 86995 h 4307840"/>
              <a:gd name="connisteX1" fmla="*/ 34290 w 3845560"/>
              <a:gd name="connsiteY1" fmla="*/ 4298950 h 4307840"/>
              <a:gd name="connisteX2" fmla="*/ 1927225 w 3845560"/>
              <a:gd name="connsiteY2" fmla="*/ 4307840 h 4307840"/>
              <a:gd name="connisteX3" fmla="*/ 1901190 w 3845560"/>
              <a:gd name="connsiteY3" fmla="*/ 2458720 h 4307840"/>
              <a:gd name="connisteX4" fmla="*/ 3845560 w 3845560"/>
              <a:gd name="connsiteY4" fmla="*/ 2467610 h 4307840"/>
              <a:gd name="connisteX5" fmla="*/ 3845560 w 3845560"/>
              <a:gd name="connsiteY5" fmla="*/ 0 h 4307840"/>
              <a:gd name="connisteX6" fmla="*/ 0 w 3845560"/>
              <a:gd name="connsiteY6" fmla="*/ 43180 h 43078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3845560" h="4307840">
                <a:moveTo>
                  <a:pt x="0" y="86995"/>
                </a:moveTo>
                <a:lnTo>
                  <a:pt x="34290" y="4298950"/>
                </a:lnTo>
                <a:lnTo>
                  <a:pt x="1927225" y="4307840"/>
                </a:lnTo>
                <a:lnTo>
                  <a:pt x="1901190" y="2458720"/>
                </a:lnTo>
                <a:lnTo>
                  <a:pt x="3845560" y="2467610"/>
                </a:lnTo>
                <a:lnTo>
                  <a:pt x="3845560" y="0"/>
                </a:lnTo>
                <a:lnTo>
                  <a:pt x="0" y="43180"/>
                </a:lnTo>
              </a:path>
            </a:pathLst>
          </a:custGeom>
          <a:noFill/>
          <a:ln w="19050" cmpd="sng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128000" y="1353185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更丰富的高速场景信息，如高速减速带，隧道，限速信息等；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城区场景，如人行道，停止线，红路灯，路口等；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基于自车位置的左中右三条平滑的参考线点集；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参考线的边界信息，即车道边界信息；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  <p:tag name="KSO_WM_UNIT_PLACING_PICTURE_USER_VIEWPORT" val="{&quot;height&quot;:7710,&quot;width&quot;:12360}"/>
</p:tagLst>
</file>

<file path=ppt/tags/tag7.xml><?xml version="1.0" encoding="utf-8"?>
<p:tagLst xmlns:p="http://schemas.openxmlformats.org/presentationml/2006/main">
  <p:tag name="KSO_WM_BEAUTIFY_FLAG" val=""/>
  <p:tag name="KSO_WM_UNIT_PLACING_PICTURE_USER_VIEWPORT" val="{&quot;height&quot;:7710,&quot;width&quot;:12360}"/>
</p:tagLst>
</file>

<file path=ppt/tags/tag8.xml><?xml version="1.0" encoding="utf-8"?>
<p:tagLst xmlns:p="http://schemas.openxmlformats.org/presentationml/2006/main">
  <p:tag name="COMMONDATA" val="eyJoZGlkIjoiNTE3NzFmNjBlYzNlNWM0NGQwYWNhMWZiY2EzMTVhNTIifQ=="/>
  <p:tag name="KSO_WPP_MARK_KEY" val="625b0543-e55c-433a-9734-c715018eb3de"/>
</p:tagLst>
</file>

<file path=ppt/theme/theme1.xml><?xml version="1.0" encoding="utf-8"?>
<a:theme xmlns:a="http://schemas.openxmlformats.org/drawingml/2006/main" name="Office 主题​​">
  <a:themeElements>
    <a:clrScheme name="吉咖主题色">
      <a:dk1>
        <a:srgbClr val="000000"/>
      </a:dk1>
      <a:lt1>
        <a:srgbClr val="FFFFFF"/>
      </a:lt1>
      <a:dk2>
        <a:srgbClr val="5A6E7F"/>
      </a:dk2>
      <a:lt2>
        <a:srgbClr val="8D989E"/>
      </a:lt2>
      <a:accent1>
        <a:srgbClr val="5ECFE3"/>
      </a:accent1>
      <a:accent2>
        <a:srgbClr val="F0FCFF"/>
      </a:accent2>
      <a:accent3>
        <a:srgbClr val="003743"/>
      </a:accent3>
      <a:accent4>
        <a:srgbClr val="211919"/>
      </a:accent4>
      <a:accent5>
        <a:srgbClr val="FFFFFF"/>
      </a:accent5>
      <a:accent6>
        <a:srgbClr val="BFC8CB"/>
      </a:accent6>
      <a:hlink>
        <a:srgbClr val="5FCFE3"/>
      </a:hlink>
      <a:folHlink>
        <a:srgbClr val="5A6E7E"/>
      </a:folHlink>
    </a:clrScheme>
    <a:fontScheme name="主题文字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WPS 演示</Application>
  <PresentationFormat>宽屏</PresentationFormat>
  <Paragraphs>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OPPOSans R</vt:lpstr>
      <vt:lpstr>Arial</vt:lpstr>
      <vt:lpstr>Arial Unicode MS</vt:lpstr>
      <vt:lpstr>等线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游正民</cp:lastModifiedBy>
  <cp:revision>338</cp:revision>
  <dcterms:created xsi:type="dcterms:W3CDTF">2023-01-17T01:20:00Z</dcterms:created>
  <dcterms:modified xsi:type="dcterms:W3CDTF">2023-11-09T06:49:10Z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F116F702490F47B2B618694BB26A8F2D</vt:lpwstr>
  </property>
  <property fmtid="{D5CDD505-2E9C-101B-9397-08002B2CF9AE}" pid="3" name="KSOProductBuildVer">
    <vt:lpwstr>2052-11.1.0.13703</vt:lpwstr>
  </property>
</Properties>
</file>